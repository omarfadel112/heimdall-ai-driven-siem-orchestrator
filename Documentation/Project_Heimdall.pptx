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200" b="1" spc="2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DOSSIER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475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 HMD-01   ·   CLASS: INTERNAL   ·   REV 1.0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8470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Heimdall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SIEM orchestrator that automates Tier 1 SOC triage — turning raw endpoint anomalies into a human-ready verdict in under five seconds.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5440680"/>
            <a:ext cx="1847088" cy="841248"/>
          </a:xfrm>
          <a:prstGeom prst="roundRect">
            <a:avLst>
              <a:gd name="adj" fmla="val 6522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569671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99032" y="5440680"/>
            <a:ext cx="1115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Wazuh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227832" y="5440680"/>
            <a:ext cx="1847088" cy="841248"/>
          </a:xfrm>
          <a:prstGeom prst="roundRect">
            <a:avLst>
              <a:gd name="adj" fmla="val 6522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569671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9624" y="5440680"/>
            <a:ext cx="1115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n8n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678424" y="5440680"/>
            <a:ext cx="1847088" cy="841248"/>
          </a:xfrm>
          <a:prstGeom prst="roundRect">
            <a:avLst>
              <a:gd name="adj" fmla="val 6522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569671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0216" y="5440680"/>
            <a:ext cx="1115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DeepSeek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129016" y="5440680"/>
            <a:ext cx="1847088" cy="841248"/>
          </a:xfrm>
          <a:prstGeom prst="roundRect">
            <a:avLst>
              <a:gd name="adj" fmla="val 6522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569671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50808" y="5440680"/>
            <a:ext cx="1115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2642616" y="5861304"/>
            <a:ext cx="457200" cy="0"/>
          </a:xfrm>
          <a:prstGeom prst="line">
            <a:avLst/>
          </a:prstGeom>
          <a:noFill/>
          <a:ln w="17780">
            <a:solidFill>
              <a:srgbClr val="2A392F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6664" y="5751576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578608" y="547725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webhook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5093208" y="5861304"/>
            <a:ext cx="457200" cy="0"/>
          </a:xfrm>
          <a:prstGeom prst="line">
            <a:avLst/>
          </a:prstGeom>
          <a:noFill/>
          <a:ln w="17780">
            <a:solidFill>
              <a:srgbClr val="2A392F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7256" y="5751576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029200" y="547725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7543800" y="5861304"/>
            <a:ext cx="457200" cy="0"/>
          </a:xfrm>
          <a:prstGeom prst="line">
            <a:avLst/>
          </a:prstGeom>
          <a:noFill/>
          <a:ln w="17780">
            <a:solidFill>
              <a:srgbClr val="2A392F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7848" y="5751576"/>
            <a:ext cx="219456" cy="21945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479792" y="547725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200" b="1" spc="2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475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SIGNAL-TO-NOISE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Signal, buried in noise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Tier 1 SOC drowns in low-severity alerts. The few real threats are indistinguishable from the flood — so analysts burn out and miss what matters.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10637215" cy="1965960"/>
          </a:xfrm>
          <a:prstGeom prst="roundRect">
            <a:avLst>
              <a:gd name="adj" fmla="val 2791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560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VOLUME  ·  ONE SHIFT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43563" y="3914802"/>
            <a:ext cx="92566" cy="172566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9" name="Shape 7"/>
          <p:cNvSpPr/>
          <p:nvPr/>
        </p:nvSpPr>
        <p:spPr>
          <a:xfrm>
            <a:off x="1328695" y="3867180"/>
            <a:ext cx="92566" cy="220188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10" name="Shape 8"/>
          <p:cNvSpPr/>
          <p:nvPr/>
        </p:nvSpPr>
        <p:spPr>
          <a:xfrm>
            <a:off x="1513827" y="3882542"/>
            <a:ext cx="92566" cy="204826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11" name="Shape 9"/>
          <p:cNvSpPr/>
          <p:nvPr/>
        </p:nvSpPr>
        <p:spPr>
          <a:xfrm>
            <a:off x="1698959" y="3685910"/>
            <a:ext cx="92566" cy="401458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12" name="Shape 10"/>
          <p:cNvSpPr/>
          <p:nvPr/>
        </p:nvSpPr>
        <p:spPr>
          <a:xfrm>
            <a:off x="1884092" y="3882542"/>
            <a:ext cx="92566" cy="204826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13" name="Shape 11"/>
          <p:cNvSpPr/>
          <p:nvPr/>
        </p:nvSpPr>
        <p:spPr>
          <a:xfrm>
            <a:off x="2069224" y="3707417"/>
            <a:ext cx="92566" cy="379951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14" name="Shape 12"/>
          <p:cNvSpPr/>
          <p:nvPr/>
        </p:nvSpPr>
        <p:spPr>
          <a:xfrm>
            <a:off x="2254356" y="3891760"/>
            <a:ext cx="92566" cy="195608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9488" y="3615245"/>
            <a:ext cx="92566" cy="472123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16" name="Shape 14"/>
          <p:cNvSpPr/>
          <p:nvPr/>
        </p:nvSpPr>
        <p:spPr>
          <a:xfrm>
            <a:off x="2624620" y="3063240"/>
            <a:ext cx="92566" cy="1024128"/>
          </a:xfrm>
          <a:prstGeom prst="rect">
            <a:avLst/>
          </a:prstGeom>
          <a:solidFill>
            <a:srgbClr val="A6E635"/>
          </a:solidFill>
          <a:ln/>
          <a:effectLst>
            <a:outerShdw sx="100000" sy="100000" kx="0" ky="0" algn="bl" rotWithShape="0" blurRad="101600" dist="50800" dir="16200000">
              <a:srgbClr val="A6E635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09752" y="3685910"/>
            <a:ext cx="92566" cy="401458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18" name="Shape 16"/>
          <p:cNvSpPr/>
          <p:nvPr/>
        </p:nvSpPr>
        <p:spPr>
          <a:xfrm>
            <a:off x="2994884" y="3768864"/>
            <a:ext cx="92566" cy="318504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0017" y="3876398"/>
            <a:ext cx="92566" cy="210970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20" name="Shape 18"/>
          <p:cNvSpPr/>
          <p:nvPr/>
        </p:nvSpPr>
        <p:spPr>
          <a:xfrm>
            <a:off x="3365149" y="3606028"/>
            <a:ext cx="92566" cy="481340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21" name="Shape 19"/>
          <p:cNvSpPr/>
          <p:nvPr/>
        </p:nvSpPr>
        <p:spPr>
          <a:xfrm>
            <a:off x="3550281" y="3910194"/>
            <a:ext cx="92566" cy="177174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22" name="Shape 20"/>
          <p:cNvSpPr/>
          <p:nvPr/>
        </p:nvSpPr>
        <p:spPr>
          <a:xfrm>
            <a:off x="3735413" y="3658258"/>
            <a:ext cx="92566" cy="429110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23" name="Shape 21"/>
          <p:cNvSpPr/>
          <p:nvPr/>
        </p:nvSpPr>
        <p:spPr>
          <a:xfrm>
            <a:off x="3920545" y="3897904"/>
            <a:ext cx="92566" cy="189464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24" name="Shape 22"/>
          <p:cNvSpPr/>
          <p:nvPr/>
        </p:nvSpPr>
        <p:spPr>
          <a:xfrm>
            <a:off x="4105677" y="3590666"/>
            <a:ext cx="92566" cy="496702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0809" y="3630607"/>
            <a:ext cx="92566" cy="456761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26" name="Shape 24"/>
          <p:cNvSpPr/>
          <p:nvPr/>
        </p:nvSpPr>
        <p:spPr>
          <a:xfrm>
            <a:off x="4475941" y="3606028"/>
            <a:ext cx="92566" cy="481340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1074" y="3624462"/>
            <a:ext cx="92566" cy="462906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28" name="Shape 26"/>
          <p:cNvSpPr/>
          <p:nvPr/>
        </p:nvSpPr>
        <p:spPr>
          <a:xfrm>
            <a:off x="4846206" y="3888687"/>
            <a:ext cx="92566" cy="198681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29" name="Shape 27"/>
          <p:cNvSpPr/>
          <p:nvPr/>
        </p:nvSpPr>
        <p:spPr>
          <a:xfrm>
            <a:off x="5031338" y="3667476"/>
            <a:ext cx="92566" cy="419892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30" name="Shape 28"/>
          <p:cNvSpPr/>
          <p:nvPr/>
        </p:nvSpPr>
        <p:spPr>
          <a:xfrm>
            <a:off x="5216470" y="3756575"/>
            <a:ext cx="92566" cy="330793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31" name="Shape 29"/>
          <p:cNvSpPr/>
          <p:nvPr/>
        </p:nvSpPr>
        <p:spPr>
          <a:xfrm>
            <a:off x="5401602" y="3063240"/>
            <a:ext cx="92566" cy="1024128"/>
          </a:xfrm>
          <a:prstGeom prst="rect">
            <a:avLst/>
          </a:prstGeom>
          <a:solidFill>
            <a:srgbClr val="A6E635"/>
          </a:solidFill>
          <a:ln/>
          <a:effectLst>
            <a:outerShdw sx="100000" sy="100000" kx="0" ky="0" algn="bl" rotWithShape="0" blurRad="101600" dist="50800" dir="16200000">
              <a:srgbClr val="A6E635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86734" y="3673620"/>
            <a:ext cx="92566" cy="413748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33" name="Shape 31"/>
          <p:cNvSpPr/>
          <p:nvPr/>
        </p:nvSpPr>
        <p:spPr>
          <a:xfrm>
            <a:off x="5771866" y="3609100"/>
            <a:ext cx="92566" cy="478268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34" name="Shape 32"/>
          <p:cNvSpPr/>
          <p:nvPr/>
        </p:nvSpPr>
        <p:spPr>
          <a:xfrm>
            <a:off x="5956999" y="3937845"/>
            <a:ext cx="92566" cy="149523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35" name="Shape 33"/>
          <p:cNvSpPr/>
          <p:nvPr/>
        </p:nvSpPr>
        <p:spPr>
          <a:xfrm>
            <a:off x="6142131" y="3787298"/>
            <a:ext cx="92566" cy="300070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36" name="Shape 34"/>
          <p:cNvSpPr/>
          <p:nvPr/>
        </p:nvSpPr>
        <p:spPr>
          <a:xfrm>
            <a:off x="6327263" y="3667476"/>
            <a:ext cx="92566" cy="419892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37" name="Shape 35"/>
          <p:cNvSpPr/>
          <p:nvPr/>
        </p:nvSpPr>
        <p:spPr>
          <a:xfrm>
            <a:off x="6512395" y="3894832"/>
            <a:ext cx="92566" cy="192536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38" name="Shape 36"/>
          <p:cNvSpPr/>
          <p:nvPr/>
        </p:nvSpPr>
        <p:spPr>
          <a:xfrm>
            <a:off x="6697527" y="3673620"/>
            <a:ext cx="92566" cy="413748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39" name="Shape 37"/>
          <p:cNvSpPr/>
          <p:nvPr/>
        </p:nvSpPr>
        <p:spPr>
          <a:xfrm>
            <a:off x="6882659" y="3821095"/>
            <a:ext cx="92566" cy="266273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40" name="Shape 38"/>
          <p:cNvSpPr/>
          <p:nvPr/>
        </p:nvSpPr>
        <p:spPr>
          <a:xfrm>
            <a:off x="7067791" y="3612173"/>
            <a:ext cx="92566" cy="475195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41" name="Shape 39"/>
          <p:cNvSpPr/>
          <p:nvPr/>
        </p:nvSpPr>
        <p:spPr>
          <a:xfrm>
            <a:off x="7252923" y="3609100"/>
            <a:ext cx="92566" cy="478268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42" name="Shape 40"/>
          <p:cNvSpPr/>
          <p:nvPr/>
        </p:nvSpPr>
        <p:spPr>
          <a:xfrm>
            <a:off x="7438056" y="3796516"/>
            <a:ext cx="92566" cy="290852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43" name="Shape 41"/>
          <p:cNvSpPr/>
          <p:nvPr/>
        </p:nvSpPr>
        <p:spPr>
          <a:xfrm>
            <a:off x="7623188" y="3695127"/>
            <a:ext cx="92566" cy="392241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44" name="Shape 42"/>
          <p:cNvSpPr/>
          <p:nvPr/>
        </p:nvSpPr>
        <p:spPr>
          <a:xfrm>
            <a:off x="7808320" y="3842601"/>
            <a:ext cx="92566" cy="244767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45" name="Shape 43"/>
          <p:cNvSpPr/>
          <p:nvPr/>
        </p:nvSpPr>
        <p:spPr>
          <a:xfrm>
            <a:off x="7993452" y="3063240"/>
            <a:ext cx="92566" cy="1024128"/>
          </a:xfrm>
          <a:prstGeom prst="rect">
            <a:avLst/>
          </a:prstGeom>
          <a:solidFill>
            <a:srgbClr val="A6E635"/>
          </a:solidFill>
          <a:ln/>
          <a:effectLst>
            <a:outerShdw sx="100000" sy="100000" kx="0" ky="0" algn="bl" rotWithShape="0" blurRad="101600" dist="50800" dir="16200000">
              <a:srgbClr val="A6E635">
                <a:alpha val="5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78584" y="3916339"/>
            <a:ext cx="92566" cy="171029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47" name="Shape 45"/>
          <p:cNvSpPr/>
          <p:nvPr/>
        </p:nvSpPr>
        <p:spPr>
          <a:xfrm>
            <a:off x="8363716" y="3805733"/>
            <a:ext cx="92566" cy="281635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48" name="Shape 46"/>
          <p:cNvSpPr/>
          <p:nvPr/>
        </p:nvSpPr>
        <p:spPr>
          <a:xfrm>
            <a:off x="8548848" y="3778081"/>
            <a:ext cx="92566" cy="309287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49" name="Shape 47"/>
          <p:cNvSpPr/>
          <p:nvPr/>
        </p:nvSpPr>
        <p:spPr>
          <a:xfrm>
            <a:off x="8733981" y="3658258"/>
            <a:ext cx="92566" cy="429110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50" name="Shape 48"/>
          <p:cNvSpPr/>
          <p:nvPr/>
        </p:nvSpPr>
        <p:spPr>
          <a:xfrm>
            <a:off x="8919113" y="3747358"/>
            <a:ext cx="92566" cy="340010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51" name="Shape 49"/>
          <p:cNvSpPr/>
          <p:nvPr/>
        </p:nvSpPr>
        <p:spPr>
          <a:xfrm>
            <a:off x="9104245" y="3602955"/>
            <a:ext cx="92566" cy="484413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52" name="Shape 50"/>
          <p:cNvSpPr/>
          <p:nvPr/>
        </p:nvSpPr>
        <p:spPr>
          <a:xfrm>
            <a:off x="9289377" y="3618317"/>
            <a:ext cx="92566" cy="469051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53" name="Shape 51"/>
          <p:cNvSpPr/>
          <p:nvPr/>
        </p:nvSpPr>
        <p:spPr>
          <a:xfrm>
            <a:off x="9474509" y="3821095"/>
            <a:ext cx="92566" cy="266273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54" name="Shape 52"/>
          <p:cNvSpPr/>
          <p:nvPr/>
        </p:nvSpPr>
        <p:spPr>
          <a:xfrm>
            <a:off x="9659641" y="3063240"/>
            <a:ext cx="92566" cy="1024128"/>
          </a:xfrm>
          <a:prstGeom prst="rect">
            <a:avLst/>
          </a:prstGeom>
          <a:solidFill>
            <a:srgbClr val="A6E635"/>
          </a:solidFill>
          <a:ln/>
          <a:effectLst>
            <a:outerShdw sx="100000" sy="100000" kx="0" ky="0" algn="bl" rotWithShape="0" blurRad="101600" dist="50800" dir="16200000">
              <a:srgbClr val="A6E635">
                <a:alpha val="5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9844773" y="3873325"/>
            <a:ext cx="92566" cy="214043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56" name="Shape 54"/>
          <p:cNvSpPr/>
          <p:nvPr/>
        </p:nvSpPr>
        <p:spPr>
          <a:xfrm>
            <a:off x="10029905" y="3787298"/>
            <a:ext cx="92566" cy="300070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57" name="Shape 55"/>
          <p:cNvSpPr/>
          <p:nvPr/>
        </p:nvSpPr>
        <p:spPr>
          <a:xfrm>
            <a:off x="10215038" y="3802660"/>
            <a:ext cx="92566" cy="284708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58" name="Shape 56"/>
          <p:cNvSpPr/>
          <p:nvPr/>
        </p:nvSpPr>
        <p:spPr>
          <a:xfrm>
            <a:off x="10400170" y="3695127"/>
            <a:ext cx="92566" cy="392241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59" name="Shape 57"/>
          <p:cNvSpPr/>
          <p:nvPr/>
        </p:nvSpPr>
        <p:spPr>
          <a:xfrm>
            <a:off x="10585302" y="3741213"/>
            <a:ext cx="92566" cy="346155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60" name="Shape 58"/>
          <p:cNvSpPr/>
          <p:nvPr/>
        </p:nvSpPr>
        <p:spPr>
          <a:xfrm>
            <a:off x="10770434" y="3910194"/>
            <a:ext cx="92566" cy="177174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61" name="Shape 59"/>
          <p:cNvSpPr/>
          <p:nvPr/>
        </p:nvSpPr>
        <p:spPr>
          <a:xfrm>
            <a:off x="10955566" y="3814950"/>
            <a:ext cx="92566" cy="272418"/>
          </a:xfrm>
          <a:prstGeom prst="rect">
            <a:avLst/>
          </a:prstGeom>
          <a:solidFill>
            <a:srgbClr val="2A392F"/>
          </a:solidFill>
          <a:ln/>
        </p:spPr>
      </p:sp>
      <p:sp>
        <p:nvSpPr>
          <p:cNvPr id="62" name="Text 60"/>
          <p:cNvSpPr/>
          <p:nvPr/>
        </p:nvSpPr>
        <p:spPr>
          <a:xfrm>
            <a:off x="795528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</a:t>
            </a:r>
            <a:pPr indent="0" marL="0">
              <a:buNone/>
            </a:pPr>
            <a:r>
              <a:rPr lang="en-US" sz="1000" b="1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real threats</a:t>
            </a:r>
            <a:pPr indent="0" marL="0">
              <a:buNone/>
            </a:pPr>
            <a:r>
              <a:rPr lang="en-US" sz="100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hidden among 200+ alerts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77240" y="480060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FATIGUE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77240" y="5148072"/>
            <a:ext cx="32409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notifications numb analysts until real signals slip past unnoticed.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4475378" y="480060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 TRIAGE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4475378" y="5148072"/>
            <a:ext cx="32409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is read, judged, and classified by hand — slow and error-prone.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8173517" y="480060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TARGET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173517" y="5148072"/>
            <a:ext cx="32409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Heimdall's goal: a confident human verdict in under five seconds, every time.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200" b="1" spc="2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475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 PIPELINE · 4 STAGES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architecture at a glance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2148840" cy="1691640"/>
          </a:xfrm>
          <a:prstGeom prst="roundRect">
            <a:avLst>
              <a:gd name="adj" fmla="val 3243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4597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16" y="2624328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2918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0" y="35021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Wazuh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822960" y="41330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Open-source SIEM watches endpoints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630168" y="2331720"/>
            <a:ext cx="2148840" cy="1691640"/>
          </a:xfrm>
          <a:prstGeom prst="roundRect">
            <a:avLst>
              <a:gd name="adj" fmla="val 3243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813048" y="24597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24" y="2624328"/>
            <a:ext cx="566928" cy="5669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67328" y="32918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721608" y="35021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n8n</a:t>
            </a:r>
            <a:endParaRPr lang="en-US" sz="2500" dirty="0"/>
          </a:p>
        </p:txBody>
      </p:sp>
      <p:sp>
        <p:nvSpPr>
          <p:cNvPr id="16" name="Text 12"/>
          <p:cNvSpPr/>
          <p:nvPr/>
        </p:nvSpPr>
        <p:spPr>
          <a:xfrm>
            <a:off x="3630168" y="41330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Filter, route &amp; enrich (VirusTotal)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437376" y="2331720"/>
            <a:ext cx="2148840" cy="1691640"/>
          </a:xfrm>
          <a:prstGeom prst="roundRect">
            <a:avLst>
              <a:gd name="adj" fmla="val 3243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620256" y="24597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332" y="2624328"/>
            <a:ext cx="566928" cy="5669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74536" y="32918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528816" y="35021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DeepSeek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6437376" y="41330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Analyzes Wazuh + VirusTotal data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9244584" y="2331720"/>
            <a:ext cx="2148840" cy="1691640"/>
          </a:xfrm>
          <a:prstGeom prst="roundRect">
            <a:avLst>
              <a:gd name="adj" fmla="val 3243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0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9427464" y="24597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5540" y="2624328"/>
            <a:ext cx="566928" cy="5669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81744" y="32918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336024" y="35021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Slack</a:t>
            </a:r>
            <a:endParaRPr lang="en-US" sz="2500" dirty="0"/>
          </a:p>
        </p:txBody>
      </p:sp>
      <p:sp>
        <p:nvSpPr>
          <p:cNvPr id="28" name="Text 22"/>
          <p:cNvSpPr/>
          <p:nvPr/>
        </p:nvSpPr>
        <p:spPr>
          <a:xfrm>
            <a:off x="9244584" y="41330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Kit · color-coded card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2999232" y="3177540"/>
            <a:ext cx="502920" cy="0"/>
          </a:xfrm>
          <a:prstGeom prst="line">
            <a:avLst/>
          </a:prstGeom>
          <a:noFill/>
          <a:ln w="17780">
            <a:solidFill>
              <a:srgbClr val="6F9E2E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067812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898648" y="277520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webhook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5806440" y="3177540"/>
            <a:ext cx="502920" cy="0"/>
          </a:xfrm>
          <a:prstGeom prst="line">
            <a:avLst/>
          </a:prstGeom>
          <a:noFill/>
          <a:ln w="17780">
            <a:solidFill>
              <a:srgbClr val="6F9E2E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3067812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705856" y="277520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enriched data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8613648" y="3177540"/>
            <a:ext cx="502920" cy="0"/>
          </a:xfrm>
          <a:prstGeom prst="line">
            <a:avLst/>
          </a:prstGeom>
          <a:noFill/>
          <a:ln w="17780">
            <a:solidFill>
              <a:srgbClr val="6F9E2E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3416" y="3067812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513064" y="277520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 JSON</a:t>
            </a:r>
            <a:endParaRPr lang="en-US" sz="800" dirty="0"/>
          </a:p>
        </p:txBody>
      </p:sp>
      <p:sp>
        <p:nvSpPr>
          <p:cNvPr id="38" name="Shape 29"/>
          <p:cNvSpPr/>
          <p:nvPr/>
        </p:nvSpPr>
        <p:spPr>
          <a:xfrm>
            <a:off x="777240" y="5212080"/>
            <a:ext cx="10637215" cy="868680"/>
          </a:xfrm>
          <a:prstGeom prst="roundRect">
            <a:avLst>
              <a:gd name="adj" fmla="val 6316"/>
            </a:avLst>
          </a:prstGeom>
          <a:solidFill>
            <a:srgbClr val="18211C"/>
          </a:solidFill>
          <a:ln w="12700">
            <a:solidFill>
              <a:srgbClr val="2A39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0000"/>
              </a:srgbClr>
            </a:outerShdw>
          </a:effectLst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" y="5417820"/>
            <a:ext cx="457200" cy="45720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783080" y="521208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 </a:t>
            </a:r>
            <a:pPr indent="0" marL="0">
              <a:buNone/>
            </a:pPr>
            <a:r>
              <a:rPr lang="en-US" sz="150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analyst reviews the color-coded Slack card and reaches a verdict in </a:t>
            </a:r>
            <a:pPr indent="0" marL="0">
              <a:buNone/>
            </a:pPr>
            <a:r>
              <a:rPr lang="en-US" sz="1500" b="1" dirty="0">
                <a:solidFill>
                  <a:srgbClr val="A6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 seconds.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200" b="1" spc="2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 · THE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475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ALERT · 4 STAGES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Follow one alert, end to end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show the pipeline in motion, we trace a single real event through all four stages.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3977640" cy="3566160"/>
          </a:xfrm>
          <a:prstGeom prst="roundRect">
            <a:avLst>
              <a:gd name="adj" fmla="val 1538"/>
            </a:avLst>
          </a:prstGeom>
          <a:solidFill>
            <a:srgbClr val="18211C"/>
          </a:solidFill>
          <a:ln w="12700">
            <a:solidFill>
              <a:srgbClr val="2A39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560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EXAMPLE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03580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99923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Brute-force SSH attempt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97280" y="370332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  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web-prod-03
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203.0.113.9  (+2 IPs)
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failed logins in 60s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49834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follow this event through detection, orchestration, intelligence, and notification — in under five seconds.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166360" y="234086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21815"/>
          </a:solidFill>
          <a:ln w="15240">
            <a:solidFill>
              <a:srgbClr val="A6E635"/>
            </a:solidFill>
            <a:prstDash val="solid"/>
          </a:ln>
          <a:effectLst>
            <a:outerShdw sx="100000" sy="100000" kx="0" ky="0" algn="bl" rotWithShape="0" blurRad="88900" dist="50800" dir="16200000">
              <a:srgbClr val="A6E635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166360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432304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81928" y="22860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 · Wazuh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281928" y="2633472"/>
            <a:ext cx="5059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 activity</a:t>
            </a:r>
            <a:pPr indent="0" marL="0">
              <a:buNone/>
            </a:pPr>
            <a:r>
              <a:rPr lang="en-US" sz="1100" b="1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F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JSON alert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394960" y="2852928"/>
            <a:ext cx="0" cy="384048"/>
          </a:xfrm>
          <a:prstGeom prst="line">
            <a:avLst/>
          </a:prstGeom>
          <a:noFill/>
          <a:ln w="15240">
            <a:solidFill>
              <a:srgbClr val="1E282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166360" y="323697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21815"/>
          </a:solidFill>
          <a:ln w="15240">
            <a:solidFill>
              <a:srgbClr val="A6E635"/>
            </a:solidFill>
            <a:prstDash val="solid"/>
          </a:ln>
          <a:effectLst>
            <a:outerShdw sx="100000" sy="100000" kx="0" ky="0" algn="bl" rotWithShape="0" blurRad="88900" dist="50800" dir="16200000">
              <a:srgbClr val="A6E635">
                <a:alpha val="2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16636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3328416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81928" y="3182112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 · n8n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81928" y="3529584"/>
            <a:ext cx="5059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alert</a:t>
            </a:r>
            <a:pPr indent="0" marL="0">
              <a:buNone/>
            </a:pPr>
            <a:r>
              <a:rPr lang="en-US" sz="1100" b="1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F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enriched + VirusTotal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394960" y="3749040"/>
            <a:ext cx="0" cy="384048"/>
          </a:xfrm>
          <a:prstGeom prst="line">
            <a:avLst/>
          </a:prstGeom>
          <a:noFill/>
          <a:ln w="15240">
            <a:solidFill>
              <a:srgbClr val="1E282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166360" y="41330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21815"/>
          </a:solidFill>
          <a:ln w="15240">
            <a:solidFill>
              <a:srgbClr val="A6E635"/>
            </a:solidFill>
            <a:prstDash val="solid"/>
          </a:ln>
          <a:effectLst>
            <a:outerShdw sx="100000" sy="100000" kx="0" ky="0" algn="bl" rotWithShape="0" blurRad="88900" dist="50800" dir="16200000">
              <a:srgbClr val="A6E635">
                <a:alpha val="2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516636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4224528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281928" y="4078224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 · DeepSeek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281928" y="4425696"/>
            <a:ext cx="5059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enriched data</a:t>
            </a:r>
            <a:pPr indent="0" marL="0">
              <a:buNone/>
            </a:pPr>
            <a:r>
              <a:rPr lang="en-US" sz="1100" b="1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F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 verdict (JSON)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394960" y="4645152"/>
            <a:ext cx="0" cy="384048"/>
          </a:xfrm>
          <a:prstGeom prst="line">
            <a:avLst/>
          </a:prstGeom>
          <a:noFill/>
          <a:ln w="15240">
            <a:solidFill>
              <a:srgbClr val="1E282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166360" y="50292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21815"/>
          </a:solidFill>
          <a:ln w="15240">
            <a:solidFill>
              <a:srgbClr val="A6E635"/>
            </a:solidFill>
            <a:prstDash val="solid"/>
          </a:ln>
          <a:effectLst>
            <a:outerShdw sx="100000" sy="100000" kx="0" ky="0" algn="bl" rotWithShape="0" blurRad="88900" dist="50800" dir="16200000">
              <a:srgbClr val="A6E635">
                <a:alpha val="2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516636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5120640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281928" y="4974336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 · Slack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6281928" y="5321808"/>
            <a:ext cx="5059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</a:t>
            </a:r>
            <a:pPr indent="0" marL="0">
              <a:buNone/>
            </a:pPr>
            <a:r>
              <a:rPr lang="en-US" sz="1100" b="1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F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color-coded card → human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200" b="1" spc="2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 · STEP 1 /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475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01 · SIEM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Detection — Wazuh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POSITION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724662" cy="384048"/>
          </a:xfrm>
          <a:prstGeom prst="roundRect">
            <a:avLst>
              <a:gd name="adj" fmla="val 9524"/>
            </a:avLst>
          </a:prstGeom>
          <a:solidFill>
            <a:srgbClr val="A6E635"/>
          </a:solidFill>
          <a:ln w="12700">
            <a:solidFill>
              <a:srgbClr val="A6E635"/>
            </a:solidFill>
            <a:prstDash val="solid"/>
          </a:ln>
          <a:effectLst>
            <a:outerShdw sx="100000" sy="100000" kx="0" ky="0" algn="bl" rotWithShape="0" blurRad="101600" dist="50800" dir="16200000">
              <a:srgbClr val="A6E63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11680"/>
            <a:ext cx="724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C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Wazuh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56766" y="2011680"/>
            <a:ext cx="724662" cy="384048"/>
          </a:xfrm>
          <a:prstGeom prst="roundRect">
            <a:avLst>
              <a:gd name="adj" fmla="val 9524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6766" y="2011680"/>
            <a:ext cx="724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n8n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6292" y="2011680"/>
            <a:ext cx="724662" cy="384048"/>
          </a:xfrm>
          <a:prstGeom prst="roundRect">
            <a:avLst>
              <a:gd name="adj" fmla="val 9524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6292" y="2011680"/>
            <a:ext cx="724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15818" y="2011680"/>
            <a:ext cx="724662" cy="384048"/>
          </a:xfrm>
          <a:prstGeom prst="roundRect">
            <a:avLst>
              <a:gd name="adj" fmla="val 9524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15818" y="2011680"/>
            <a:ext cx="724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2697480"/>
            <a:ext cx="1005840" cy="1005840"/>
          </a:xfrm>
          <a:prstGeom prst="roundRect">
            <a:avLst>
              <a:gd name="adj" fmla="val 8182"/>
            </a:avLst>
          </a:prstGeom>
          <a:solidFill>
            <a:srgbClr val="121815"/>
          </a:solidFill>
          <a:ln w="16510">
            <a:solidFill>
              <a:srgbClr val="A6E635"/>
            </a:solidFill>
            <a:prstDash val="solid"/>
          </a:ln>
          <a:effectLst>
            <a:outerShdw sx="100000" sy="100000" kx="0" ky="0" algn="bl" rotWithShape="0" blurRad="177800" dist="50800" dir="16200000">
              <a:srgbClr val="A6E635">
                <a:alpha val="30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962656"/>
            <a:ext cx="475488" cy="4754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965960" y="2852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38528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Wazuh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777240" y="3931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open-source SIEM watching every endpoint in real time.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7240" y="4892040"/>
            <a:ext cx="3063240" cy="0"/>
          </a:xfrm>
          <a:prstGeom prst="line">
            <a:avLst/>
          </a:prstGeom>
          <a:noFill/>
          <a:ln w="12700">
            <a:solidFill>
              <a:srgbClr val="1E28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50292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TECH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" y="526694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Decoders · Rules · Integrator webhook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14800" y="1828800"/>
            <a:ext cx="7299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INPUT   </a:t>
            </a:r>
            <a:pPr indent="0" marL="0">
              <a:buNone/>
            </a:pPr>
            <a:r>
              <a:rPr lang="en-US" sz="110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 activity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114800" y="2103120"/>
            <a:ext cx="7299655" cy="822960"/>
          </a:xfrm>
          <a:prstGeom prst="roundRect">
            <a:avLst>
              <a:gd name="adj" fmla="val 6667"/>
            </a:avLst>
          </a:prstGeom>
          <a:solidFill>
            <a:srgbClr val="18211C"/>
          </a:solidFill>
          <a:ln w="12700">
            <a:solidFill>
              <a:srgbClr val="2A392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12848"/>
            <a:ext cx="67875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web-prod-03 · /var/log/auth.log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sshd: Failed password for admin from 203.0.113.9  ×42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114800" y="3127248"/>
            <a:ext cx="7299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WHAT HAPPENS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114800" y="34198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0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90288" y="33832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agents stream endpoint logs to the manager continuously.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114800" y="38770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1480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90288" y="38404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Decoders normalize each event; the rules engine evaluates it.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4114800" y="43342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90288" y="42976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matches many failed SSH logins in a short window (level ≥ 10).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4114800" y="47914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14800" y="4791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90288" y="47548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raises the alert and fires its integrator webhook outward.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4114800" y="5285232"/>
            <a:ext cx="7299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OUTPUT   </a:t>
            </a:r>
            <a:pPr indent="0" marL="0">
              <a:buNone/>
            </a:pPr>
            <a:r>
              <a:rPr lang="en-US" sz="110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JSON alert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114800" y="5559552"/>
            <a:ext cx="7299655" cy="868680"/>
          </a:xfrm>
          <a:prstGeom prst="roundRect">
            <a:avLst>
              <a:gd name="adj" fmla="val 6316"/>
            </a:avLst>
          </a:prstGeom>
          <a:solidFill>
            <a:srgbClr val="18211C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370832" y="5669280"/>
            <a:ext cx="67875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"rule":{"level":10,"desc":"multiple failed logins"},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"agent":"web-prod-03", "srcip":"203.0.113.9" }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200" b="1" spc="2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 · STEP 2 /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475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02 · AUTOMATION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Orchestration — n8n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POSITION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724662" cy="384048"/>
          </a:xfrm>
          <a:prstGeom prst="roundRect">
            <a:avLst>
              <a:gd name="adj" fmla="val 9524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724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Wazuh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56766" y="2011680"/>
            <a:ext cx="724662" cy="384048"/>
          </a:xfrm>
          <a:prstGeom prst="roundRect">
            <a:avLst>
              <a:gd name="adj" fmla="val 9524"/>
            </a:avLst>
          </a:prstGeom>
          <a:solidFill>
            <a:srgbClr val="A6E635"/>
          </a:solidFill>
          <a:ln w="12700">
            <a:solidFill>
              <a:srgbClr val="A6E635"/>
            </a:solidFill>
            <a:prstDash val="solid"/>
          </a:ln>
          <a:effectLst>
            <a:outerShdw sx="100000" sy="100000" kx="0" ky="0" algn="bl" rotWithShape="0" blurRad="101600" dist="50800" dir="16200000">
              <a:srgbClr val="A6E635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6766" y="2011680"/>
            <a:ext cx="724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C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n8n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6292" y="2011680"/>
            <a:ext cx="724662" cy="384048"/>
          </a:xfrm>
          <a:prstGeom prst="roundRect">
            <a:avLst>
              <a:gd name="adj" fmla="val 9524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6292" y="2011680"/>
            <a:ext cx="724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15818" y="2011680"/>
            <a:ext cx="724662" cy="384048"/>
          </a:xfrm>
          <a:prstGeom prst="roundRect">
            <a:avLst>
              <a:gd name="adj" fmla="val 9524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15818" y="2011680"/>
            <a:ext cx="724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2697480"/>
            <a:ext cx="1005840" cy="1005840"/>
          </a:xfrm>
          <a:prstGeom prst="roundRect">
            <a:avLst>
              <a:gd name="adj" fmla="val 8182"/>
            </a:avLst>
          </a:prstGeom>
          <a:solidFill>
            <a:srgbClr val="121815"/>
          </a:solidFill>
          <a:ln w="16510">
            <a:solidFill>
              <a:srgbClr val="A6E635"/>
            </a:solidFill>
            <a:prstDash val="solid"/>
          </a:ln>
          <a:effectLst>
            <a:outerShdw sx="100000" sy="100000" kx="0" ky="0" algn="bl" rotWithShape="0" blurRad="177800" dist="50800" dir="16200000">
              <a:srgbClr val="A6E635">
                <a:alpha val="30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962656"/>
            <a:ext cx="475488" cy="4754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965960" y="2852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38528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n8n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777240" y="3931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self-hosted workflow engine — the pipeline's nervous system.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7240" y="4892040"/>
            <a:ext cx="3063240" cy="0"/>
          </a:xfrm>
          <a:prstGeom prst="line">
            <a:avLst/>
          </a:prstGeom>
          <a:noFill/>
          <a:ln w="12700">
            <a:solidFill>
              <a:srgbClr val="1E28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50292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TECH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" y="526694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Webhook · Filter · VirusTotal v3 · Function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14800" y="1828800"/>
            <a:ext cx="7299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INPUT   </a:t>
            </a:r>
            <a:pPr indent="0" marL="0">
              <a:buNone/>
            </a:pPr>
            <a:r>
              <a:rPr lang="en-US" sz="110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JSON alert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114800" y="2103120"/>
            <a:ext cx="7299655" cy="822960"/>
          </a:xfrm>
          <a:prstGeom prst="roundRect">
            <a:avLst>
              <a:gd name="adj" fmla="val 6667"/>
            </a:avLst>
          </a:prstGeom>
          <a:solidFill>
            <a:srgbClr val="18211C"/>
          </a:solidFill>
          <a:ln w="12700">
            <a:solidFill>
              <a:srgbClr val="2A392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12848"/>
            <a:ext cx="67875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/webhook/heimdall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"rule":{"level":10}, "agent":"web-prod-03", ... }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114800" y="3127248"/>
            <a:ext cx="7299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WHAT HAPPENS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114800" y="34198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0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90288" y="33832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Webhook node catches the POST from Wazuh and parses the JSON.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114800" y="38770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1480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90288" y="38404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 / Filter node drops low-severity noise (e.g. rule.level &lt; 8).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4114800" y="43342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90288" y="42976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queries the VirusTotal v3 API for IP and file-hash reputation.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4114800" y="47914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14800" y="4791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90288" y="47548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bundles the alert with the VirusTotal metrics and calls DeepSeek.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4114800" y="5285232"/>
            <a:ext cx="7299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OUTPUT   </a:t>
            </a:r>
            <a:pPr indent="0" marL="0">
              <a:buNone/>
            </a:pPr>
            <a:r>
              <a:rPr lang="en-US" sz="110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enriched payload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114800" y="5559552"/>
            <a:ext cx="7299655" cy="868680"/>
          </a:xfrm>
          <a:prstGeom prst="roundRect">
            <a:avLst>
              <a:gd name="adj" fmla="val 6316"/>
            </a:avLst>
          </a:prstGeom>
          <a:solidFill>
            <a:srgbClr val="18211C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370832" y="5669280"/>
            <a:ext cx="67875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alert:{...}, virustotal:{ malicious:8, total:89 } 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sent to DeepSeek for analysis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200" b="1" spc="2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 · ENRICHMENT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475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 INTELLIGENCE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Enrichment — VirusTotal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n8n → VirusTotal → DeepSeek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1005840" cy="1005840"/>
          </a:xfrm>
          <a:prstGeom prst="roundRect">
            <a:avLst>
              <a:gd name="adj" fmla="val 8182"/>
            </a:avLst>
          </a:prstGeom>
          <a:solidFill>
            <a:srgbClr val="121815"/>
          </a:solidFill>
          <a:ln w="16510">
            <a:solidFill>
              <a:srgbClr val="A6E635"/>
            </a:solidFill>
            <a:prstDash val="solid"/>
          </a:ln>
          <a:effectLst>
            <a:outerShdw sx="100000" sy="100000" kx="0" ky="0" algn="bl" rotWithShape="0" blurRad="177800" dist="50800" dir="16200000">
              <a:srgbClr val="A6E635">
                <a:alpha val="3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96265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2852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38528" y="3108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VirusTotal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777240" y="39776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threat-intelligence service that scores IPs and files against 90+ security engines.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7240" y="5029200"/>
            <a:ext cx="3063240" cy="0"/>
          </a:xfrm>
          <a:prstGeom prst="line">
            <a:avLst/>
          </a:prstGeom>
          <a:noFill/>
          <a:ln w="12700">
            <a:solidFill>
              <a:srgbClr val="1E28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51663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TECH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7240" y="540410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 API · IP &amp; file-hash lookup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0" y="1828800"/>
            <a:ext cx="7299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WHAT IT CHECKS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0" y="2103120"/>
            <a:ext cx="7299655" cy="822960"/>
          </a:xfrm>
          <a:prstGeom prst="roundRect">
            <a:avLst>
              <a:gd name="adj" fmla="val 6667"/>
            </a:avLst>
          </a:prstGeom>
          <a:solidFill>
            <a:srgbClr val="18211C"/>
          </a:solidFill>
          <a:ln w="12700">
            <a:solidFill>
              <a:srgbClr val="2A39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70832" y="2212848"/>
            <a:ext cx="67875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IP  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203.0.113.9 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reputation &amp; recent reports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hash  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(if present)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known-malware detections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114800" y="3127248"/>
            <a:ext cx="7299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WHAT HAPPENS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0" y="34198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0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90288" y="33832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sends the alert's IP and any file hash to the VirusTotal v3 API.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114800" y="38770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90288" y="38404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returns how many of 90+ engines flag them as malicious.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4114800" y="43342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90288" y="42976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attaches these reputation metrics to the alert as extra context.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114800" y="47914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0" y="4791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90288" y="47548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uses the reputation to confirm the threat and set severity.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4114800" y="5285232"/>
            <a:ext cx="7299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OUTPUT   </a:t>
            </a:r>
            <a:pPr indent="0" marL="0">
              <a:buNone/>
            </a:pPr>
            <a:r>
              <a:rPr lang="en-US" sz="110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 added to the alert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114800" y="5559552"/>
            <a:ext cx="7299655" cy="868680"/>
          </a:xfrm>
          <a:prstGeom prst="roundRect">
            <a:avLst>
              <a:gd name="adj" fmla="val 6316"/>
            </a:avLst>
          </a:prstGeom>
          <a:solidFill>
            <a:srgbClr val="18211C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70832" y="5669280"/>
            <a:ext cx="67875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"virustotal": { "malicious": 8, "suspicious": 2, "total": 89 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fed to DeepSeek to drive dynamic severity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200" b="1" spc="2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 · STEP 3 /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475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03 · MODEL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Intelligence — DeepSeek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POSITION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724662" cy="384048"/>
          </a:xfrm>
          <a:prstGeom prst="roundRect">
            <a:avLst>
              <a:gd name="adj" fmla="val 9524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724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Wazuh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56766" y="2011680"/>
            <a:ext cx="724662" cy="384048"/>
          </a:xfrm>
          <a:prstGeom prst="roundRect">
            <a:avLst>
              <a:gd name="adj" fmla="val 9524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6766" y="2011680"/>
            <a:ext cx="724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n8n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6292" y="2011680"/>
            <a:ext cx="724662" cy="384048"/>
          </a:xfrm>
          <a:prstGeom prst="roundRect">
            <a:avLst>
              <a:gd name="adj" fmla="val 9524"/>
            </a:avLst>
          </a:prstGeom>
          <a:solidFill>
            <a:srgbClr val="A6E635"/>
          </a:solidFill>
          <a:ln w="12700">
            <a:solidFill>
              <a:srgbClr val="A6E635"/>
            </a:solidFill>
            <a:prstDash val="solid"/>
          </a:ln>
          <a:effectLst>
            <a:outerShdw sx="100000" sy="100000" kx="0" ky="0" algn="bl" rotWithShape="0" blurRad="101600" dist="50800" dir="16200000">
              <a:srgbClr val="A6E635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36292" y="2011680"/>
            <a:ext cx="724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C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15818" y="2011680"/>
            <a:ext cx="724662" cy="384048"/>
          </a:xfrm>
          <a:prstGeom prst="roundRect">
            <a:avLst>
              <a:gd name="adj" fmla="val 9524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15818" y="2011680"/>
            <a:ext cx="724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2697480"/>
            <a:ext cx="1005840" cy="1005840"/>
          </a:xfrm>
          <a:prstGeom prst="roundRect">
            <a:avLst>
              <a:gd name="adj" fmla="val 8182"/>
            </a:avLst>
          </a:prstGeom>
          <a:solidFill>
            <a:srgbClr val="121815"/>
          </a:solidFill>
          <a:ln w="16510">
            <a:solidFill>
              <a:srgbClr val="A6E635"/>
            </a:solidFill>
            <a:prstDash val="solid"/>
          </a:ln>
          <a:effectLst>
            <a:outerShdw sx="100000" sy="100000" kx="0" ky="0" algn="bl" rotWithShape="0" blurRad="177800" dist="50800" dir="16200000">
              <a:srgbClr val="A6E635">
                <a:alpha val="30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962656"/>
            <a:ext cx="475488" cy="4754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965960" y="2852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38528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DeepSeek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777240" y="3931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analyst that reads the enriched alert and renders a verdict.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7240" y="4892040"/>
            <a:ext cx="3063240" cy="0"/>
          </a:xfrm>
          <a:prstGeom prst="line">
            <a:avLst/>
          </a:prstGeom>
          <a:noFill/>
          <a:ln w="12700">
            <a:solidFill>
              <a:srgbClr val="1E28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50292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TECH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" y="526694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prompt · JSON output · dynamic severity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14800" y="1828800"/>
            <a:ext cx="7299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INPUT   </a:t>
            </a:r>
            <a:pPr indent="0" marL="0">
              <a:buNone/>
            </a:pPr>
            <a:r>
              <a:rPr lang="en-US" sz="110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enriched payload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114800" y="2103120"/>
            <a:ext cx="7299655" cy="822960"/>
          </a:xfrm>
          <a:prstGeom prst="roundRect">
            <a:avLst>
              <a:gd name="adj" fmla="val 6667"/>
            </a:avLst>
          </a:prstGeom>
          <a:solidFill>
            <a:srgbClr val="18211C"/>
          </a:solidFill>
          <a:ln w="12700">
            <a:solidFill>
              <a:srgbClr val="2A392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12848"/>
            <a:ext cx="67875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Wazuh alert  +  VirusTotal metrics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"summarize · map to MITRE · score · recommend"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114800" y="3127248"/>
            <a:ext cx="7299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WHAT HAPPENS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114800" y="34198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0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90288" y="33832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frames DeepSeek as a Tier 1 SOC analyst.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114800" y="38770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1480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90288" y="38404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Wazuh payload alongside the VirusTotal reputation.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4114800" y="43342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90288" y="42976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maps the behaviour to MITRE ATT&amp;CK — Credential Access · T1110.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4114800" y="47914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14800" y="4791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90288" y="47548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escalates severity on VirusTotal hits and returns strict JSON.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4114800" y="5285232"/>
            <a:ext cx="7299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OUTPUT   </a:t>
            </a:r>
            <a:pPr indent="0" marL="0">
              <a:buNone/>
            </a:pPr>
            <a:r>
              <a:rPr lang="en-US" sz="110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verdict.json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114800" y="5559552"/>
            <a:ext cx="7299655" cy="868680"/>
          </a:xfrm>
          <a:prstGeom prst="roundRect">
            <a:avLst>
              <a:gd name="adj" fmla="val 6316"/>
            </a:avLst>
          </a:prstGeom>
          <a:solidFill>
            <a:srgbClr val="18211C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370832" y="5669280"/>
            <a:ext cx="67875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"threat_summary":"Brute-force SSH", "severity":"HIGH",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"mitre":"T1110", "recommended_actions":[ ... ] }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200" b="1" spc="2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 · THE SYSTEM PROMPT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475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DEEPSEEK IS INSTRUCTED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system prompt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model becomes a SOC analyst through one carefully written instruction. The system prompt sets the role, the inputs, and a strict output contract.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DeepSeek as a Tier 1 SOC analyst — not a chatbot.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it the raw Wazuh alert plus VirusTotal reputation.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023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297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Demands strict JSON so n8n can parse the reply reliably.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892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5166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severity automatically on a VirusTotal hit.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0" y="2286000"/>
            <a:ext cx="7299655" cy="3968496"/>
          </a:xfrm>
          <a:prstGeom prst="roundRect">
            <a:avLst>
              <a:gd name="adj" fmla="val 1382"/>
            </a:avLst>
          </a:prstGeom>
          <a:solidFill>
            <a:srgbClr val="18211C"/>
          </a:solidFill>
          <a:ln w="12700">
            <a:solidFill>
              <a:srgbClr val="2A39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43400" y="1993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system_prompt.txt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07408" y="2560320"/>
            <a:ext cx="6796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</a:t>
            </a:r>
            <a:pPr indent="0" marL="0">
              <a:buNone/>
            </a:pPr>
            <a:r>
              <a:rPr lang="en-US" sz="125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You are a Tier 1 SOC analyst.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07408" y="2871216"/>
            <a:ext cx="6796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</a:t>
            </a:r>
            <a:pPr indent="0" marL="0">
              <a:buNone/>
            </a:pPr>
            <a:r>
              <a:rPr lang="en-US" sz="125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raw Wazuh alert + VirusTotal metrics.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07408" y="3182112"/>
            <a:ext cx="6796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07408" y="3493008"/>
            <a:ext cx="6796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</a:t>
            </a:r>
            <a:pPr indent="0" marL="0">
              <a:buNone/>
            </a:pPr>
            <a:r>
              <a:rPr lang="en-US" sz="125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summarize the threat, map it to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07408" y="3803904"/>
            <a:ext cx="6796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MITRE ATT&amp;CK, and assign a severity.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07408" y="4114800"/>
            <a:ext cx="6796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407408" y="4425696"/>
            <a:ext cx="6796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</a:t>
            </a:r>
            <a:pPr indent="0" marL="0">
              <a:buNone/>
            </a:pPr>
            <a:r>
              <a:rPr lang="en-US" sz="125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escalate severity when VirusTotal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07408" y="4736592"/>
            <a:ext cx="6796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flags the IP or hash as malicious.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07408" y="5047488"/>
            <a:ext cx="6796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07408" y="5358384"/>
            <a:ext cx="6796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pPr indent="0" marL="0">
              <a:buNone/>
            </a:pPr>
            <a:r>
              <a:rPr lang="en-US" sz="125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strict JSON only —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407408" y="5669280"/>
            <a:ext cx="6796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threat_summary, mitre, severity, actions }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200" b="1" spc="2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 · STEP 4 /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475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04 · INTERFACE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Notification — Slack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POSITION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724662" cy="384048"/>
          </a:xfrm>
          <a:prstGeom prst="roundRect">
            <a:avLst>
              <a:gd name="adj" fmla="val 9524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724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Wazuh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56766" y="2011680"/>
            <a:ext cx="724662" cy="384048"/>
          </a:xfrm>
          <a:prstGeom prst="roundRect">
            <a:avLst>
              <a:gd name="adj" fmla="val 9524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6766" y="2011680"/>
            <a:ext cx="724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n8n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6292" y="2011680"/>
            <a:ext cx="724662" cy="384048"/>
          </a:xfrm>
          <a:prstGeom prst="roundRect">
            <a:avLst>
              <a:gd name="adj" fmla="val 9524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6292" y="2011680"/>
            <a:ext cx="724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15818" y="2011680"/>
            <a:ext cx="724662" cy="384048"/>
          </a:xfrm>
          <a:prstGeom prst="roundRect">
            <a:avLst>
              <a:gd name="adj" fmla="val 9524"/>
            </a:avLst>
          </a:prstGeom>
          <a:solidFill>
            <a:srgbClr val="A6E635"/>
          </a:solidFill>
          <a:ln w="12700">
            <a:solidFill>
              <a:srgbClr val="A6E635"/>
            </a:solidFill>
            <a:prstDash val="solid"/>
          </a:ln>
          <a:effectLst>
            <a:outerShdw sx="100000" sy="100000" kx="0" ky="0" algn="bl" rotWithShape="0" blurRad="101600" dist="50800" dir="16200000">
              <a:srgbClr val="A6E635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15818" y="2011680"/>
            <a:ext cx="724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C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2697480"/>
            <a:ext cx="1005840" cy="1005840"/>
          </a:xfrm>
          <a:prstGeom prst="roundRect">
            <a:avLst>
              <a:gd name="adj" fmla="val 8182"/>
            </a:avLst>
          </a:prstGeom>
          <a:solidFill>
            <a:srgbClr val="121815"/>
          </a:solidFill>
          <a:ln w="16510">
            <a:solidFill>
              <a:srgbClr val="A6E635"/>
            </a:solidFill>
            <a:prstDash val="solid"/>
          </a:ln>
          <a:effectLst>
            <a:outerShdw sx="100000" sy="100000" kx="0" ky="0" algn="bl" rotWithShape="0" blurRad="177800" dist="50800" dir="16200000">
              <a:srgbClr val="A6E635">
                <a:alpha val="30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962656"/>
            <a:ext cx="475488" cy="4754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965960" y="2852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38528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Slack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777240" y="3931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AI's verdict meets a human decision.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7240" y="4892040"/>
            <a:ext cx="3063240" cy="0"/>
          </a:xfrm>
          <a:prstGeom prst="line">
            <a:avLst/>
          </a:prstGeom>
          <a:noFill/>
          <a:ln w="12700">
            <a:solidFill>
              <a:srgbClr val="1E28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50292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TECH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" y="526694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Kit · severity color map · action buttons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14800" y="1828800"/>
            <a:ext cx="7299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INPUT   </a:t>
            </a:r>
            <a:pPr indent="0" marL="0">
              <a:buNone/>
            </a:pPr>
            <a:r>
              <a:rPr lang="en-US" sz="110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verdict.json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114800" y="2103120"/>
            <a:ext cx="7299655" cy="822960"/>
          </a:xfrm>
          <a:prstGeom prst="roundRect">
            <a:avLst>
              <a:gd name="adj" fmla="val 6667"/>
            </a:avLst>
          </a:prstGeom>
          <a:solidFill>
            <a:srgbClr val="18211C"/>
          </a:solidFill>
          <a:ln w="12700">
            <a:solidFill>
              <a:srgbClr val="2A392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12848"/>
            <a:ext cx="67875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"severity":"HIGH", "threat_summary":"Brute-force SSH",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"mitre":"T1110", ... }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114800" y="3127248"/>
            <a:ext cx="7299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WHAT HAPPENS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114800" y="34198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0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90288" y="33832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maps severity to a color — HIGH → red, MED → amber, LOW → green.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114800" y="38770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1480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90288" y="38404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assembles a Slack Block Kit card: header, fields, context, buttons.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4114800" y="43342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90288" y="42976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 is posted to #soc-alerts via the Slack node.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4114800" y="47914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1815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14800" y="4791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90288" y="475488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reads summary, MITRE, and severity — and decides in &lt; 5s.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4114800" y="5285232"/>
            <a:ext cx="7299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OUTPUT   </a:t>
            </a:r>
            <a:pPr indent="0" marL="0">
              <a:buNone/>
            </a:pPr>
            <a:r>
              <a:rPr lang="en-US" sz="110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card + decision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114800" y="5559552"/>
            <a:ext cx="7299655" cy="868680"/>
          </a:xfrm>
          <a:prstGeom prst="roundRect">
            <a:avLst>
              <a:gd name="adj" fmla="val 6316"/>
            </a:avLst>
          </a:prstGeom>
          <a:solidFill>
            <a:srgbClr val="18211C"/>
          </a:solidFill>
          <a:ln w="12700">
            <a:solidFill>
              <a:srgbClr val="6F9E2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370832" y="5669280"/>
            <a:ext cx="67875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#soc-alerts · ● HIGH · Brute-force SSH · T1110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Acknowledge ]   [ Investigate ]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200" b="1" spc="2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 · THE SLACK CARD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475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KIT · HUMAN-READY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Inside the Slack alert card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943600" cy="4160520"/>
          </a:xfrm>
          <a:prstGeom prst="roundRect">
            <a:avLst>
              <a:gd name="adj" fmla="val 1319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1284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heimdall-bot </a:t>
            </a:r>
            <a:pPr indent="0" marL="0">
              <a:buNone/>
            </a:pPr>
            <a:r>
              <a:rPr lang="en-US" sz="110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#soc-alerts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2194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03:14:09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097280" y="2706624"/>
            <a:ext cx="5303520" cy="0"/>
          </a:xfrm>
          <a:prstGeom prst="line">
            <a:avLst/>
          </a:prstGeom>
          <a:noFill/>
          <a:ln w="12700">
            <a:solidFill>
              <a:srgbClr val="1E282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61288" y="2926080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F2594B">
              <a:alpha val="16000"/>
            </a:srgbClr>
          </a:solidFill>
          <a:ln w="12700">
            <a:solidFill>
              <a:srgbClr val="F259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2926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5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HIGH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61288" y="343814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Brute-force SSH attempt detected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61288" y="404164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    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web-prod-03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mitre    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T1110 · Brute Force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virustotal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89 engines flagged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    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failed logins · 3 IPs · 60s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61288" y="5504688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A6E635">
              <a:alpha val="20000"/>
            </a:srgbClr>
          </a:solidFill>
          <a:ln w="12700">
            <a:solidFill>
              <a:srgbClr val="A6E6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61288" y="5504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Acknowledge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081528" y="5504688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18211C"/>
          </a:solidFill>
          <a:ln w="12700">
            <a:solidFill>
              <a:srgbClr val="5D6D6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81528" y="5504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Investigate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178040" y="196596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ON THE CARD</a:t>
            </a:r>
            <a:endParaRPr lang="en-US" sz="11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404872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452360" y="2340864"/>
            <a:ext cx="39438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 pill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HIGH / MED / LOW, readable instantly.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063240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52360" y="2999232"/>
            <a:ext cx="39438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 summary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AI's plain-language description.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721608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360" y="3657600"/>
            <a:ext cx="39438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MITRE tag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technique, auto-mapped.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4379976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52360" y="4315968"/>
            <a:ext cx="39438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VirusTotal score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that can escalate severity.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5038344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452360" y="4974336"/>
            <a:ext cx="39438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buttons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or Investigate — one tap.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7178040" y="5687568"/>
            <a:ext cx="4236415" cy="841248"/>
          </a:xfrm>
          <a:prstGeom prst="roundRect">
            <a:avLst>
              <a:gd name="adj" fmla="val 6522"/>
            </a:avLst>
          </a:prstGeom>
          <a:solidFill>
            <a:srgbClr val="18211C"/>
          </a:solidFill>
          <a:ln w="12700">
            <a:solidFill>
              <a:srgbClr val="2A39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0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7406640" y="5833872"/>
            <a:ext cx="3779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 → COLOR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7434072" y="6153912"/>
            <a:ext cx="182880" cy="182880"/>
          </a:xfrm>
          <a:prstGeom prst="ellipse">
            <a:avLst/>
          </a:prstGeom>
          <a:solidFill>
            <a:srgbClr val="F2594B"/>
          </a:solidFill>
          <a:ln/>
          <a:effectLst>
            <a:outerShdw sx="100000" sy="100000" kx="0" ky="0" algn="bl" rotWithShape="0" blurRad="88900" dist="50800" dir="16200000">
              <a:srgbClr val="F2594B">
                <a:alpha val="50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7690104" y="6108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5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8805672" y="6153912"/>
            <a:ext cx="182880" cy="182880"/>
          </a:xfrm>
          <a:prstGeom prst="ellipse">
            <a:avLst/>
          </a:prstGeom>
          <a:solidFill>
            <a:srgbClr val="F0A93B"/>
          </a:solidFill>
          <a:ln/>
          <a:effectLst>
            <a:outerShdw sx="100000" sy="100000" kx="0" ky="0" algn="bl" rotWithShape="0" blurRad="88900" dist="50800" dir="16200000">
              <a:srgbClr val="F0A93B">
                <a:alpha val="50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9061704" y="6108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10177272" y="6153912"/>
            <a:ext cx="182880" cy="182880"/>
          </a:xfrm>
          <a:prstGeom prst="ellipse">
            <a:avLst/>
          </a:prstGeom>
          <a:solidFill>
            <a:srgbClr val="A6E635"/>
          </a:solidFill>
          <a:ln/>
          <a:effectLst>
            <a:outerShdw sx="100000" sy="100000" kx="0" ky="0" algn="bl" rotWithShape="0" blurRad="88900" dist="50800" dir="16200000">
              <a:srgbClr val="A6E635">
                <a:alpha val="50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10433304" y="6108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200" b="1" spc="2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 ·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475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ALERT · 4 TRANSFORMATIONS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alert, four transformations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event, reshaped at each hop — from a noisy log line to a decision a human can act 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2316404" cy="2880360"/>
          </a:xfrm>
          <a:prstGeom prst="roundRect">
            <a:avLst>
              <a:gd name="adj" fmla="val 2368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6060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3108960"/>
            <a:ext cx="1859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RAW LOG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33272" y="3447288"/>
            <a:ext cx="1804340" cy="0"/>
          </a:xfrm>
          <a:prstGeom prst="line">
            <a:avLst/>
          </a:prstGeom>
          <a:noFill/>
          <a:ln w="12700">
            <a:solidFill>
              <a:srgbClr val="1E28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3611880"/>
            <a:ext cx="18592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sshd: Failed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×42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203.0.113.9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550844" y="2331720"/>
            <a:ext cx="2316404" cy="2880360"/>
          </a:xfrm>
          <a:prstGeom prst="roundRect">
            <a:avLst>
              <a:gd name="adj" fmla="val 2368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876" y="260604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06876" y="3108960"/>
            <a:ext cx="1859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ENRICHED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806876" y="3447288"/>
            <a:ext cx="1804340" cy="0"/>
          </a:xfrm>
          <a:prstGeom prst="line">
            <a:avLst/>
          </a:prstGeom>
          <a:noFill/>
          <a:ln w="12700">
            <a:solidFill>
              <a:srgbClr val="1E282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806876" y="3611880"/>
            <a:ext cx="18592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VirusTotal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8/89 flagged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to DeepSeek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24448" y="2331720"/>
            <a:ext cx="2316404" cy="2880360"/>
          </a:xfrm>
          <a:prstGeom prst="roundRect">
            <a:avLst>
              <a:gd name="adj" fmla="val 2368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480" y="260604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0480" y="3108960"/>
            <a:ext cx="1859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VERDICT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580480" y="3447288"/>
            <a:ext cx="1804340" cy="0"/>
          </a:xfrm>
          <a:prstGeom prst="line">
            <a:avLst/>
          </a:prstGeom>
          <a:noFill/>
          <a:ln w="12700">
            <a:solidFill>
              <a:srgbClr val="1E282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0480" y="3611880"/>
            <a:ext cx="18592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threat: SSH BF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25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severity: HIGH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mitre: T1110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098051" y="2331720"/>
            <a:ext cx="2316404" cy="2880360"/>
          </a:xfrm>
          <a:prstGeom prst="roundRect">
            <a:avLst>
              <a:gd name="adj" fmla="val 2368"/>
            </a:avLst>
          </a:prstGeom>
          <a:solidFill>
            <a:srgbClr val="121815"/>
          </a:solidFill>
          <a:ln w="12700">
            <a:solidFill>
              <a:srgbClr val="2A39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0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4083" y="260604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54083" y="3108960"/>
            <a:ext cx="1859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CARD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354083" y="3447288"/>
            <a:ext cx="1804340" cy="0"/>
          </a:xfrm>
          <a:prstGeom prst="line">
            <a:avLst/>
          </a:prstGeom>
          <a:noFill/>
          <a:ln w="12700">
            <a:solidFill>
              <a:srgbClr val="1E282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354083" y="3611880"/>
            <a:ext cx="18592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25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HIGH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Brute-force SSH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[Ack] [Investigate]</a:t>
            </a:r>
            <a:endParaRPr lang="en-US" sz="11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2516" y="3643884"/>
            <a:ext cx="256032" cy="256032"/>
          </a:xfrm>
          <a:prstGeom prst="rect">
            <a:avLst/>
          </a:prstGeom>
        </p:spPr>
      </p:pic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6120" y="3643884"/>
            <a:ext cx="256032" cy="256032"/>
          </a:xfrm>
          <a:prstGeom prst="rect">
            <a:avLst/>
          </a:prstGeom>
        </p:spPr>
      </p:pic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9723" y="3643884"/>
            <a:ext cx="256032" cy="256032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777240" y="5623560"/>
            <a:ext cx="10637215" cy="822960"/>
          </a:xfrm>
          <a:prstGeom prst="roundRect">
            <a:avLst>
              <a:gd name="adj" fmla="val 6667"/>
            </a:avLst>
          </a:prstGeom>
          <a:solidFill>
            <a:srgbClr val="18211C"/>
          </a:solidFill>
          <a:ln w="12700">
            <a:solidFill>
              <a:srgbClr val="A6E635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0000"/>
              </a:srgbClr>
            </a:outerShdw>
          </a:effectLst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" y="5815584"/>
            <a:ext cx="438912" cy="43891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737360" y="562356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E63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&lt; 5 seconds  </a:t>
            </a:r>
            <a:pPr indent="0" marL="0">
              <a:buNone/>
            </a:pPr>
            <a:r>
              <a:rPr lang="en-US" sz="1450" dirty="0">
                <a:solidFill>
                  <a:srgbClr val="E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endpoint anomaly to a human-ready verdict — no manual triage in between.</a:t>
            </a:r>
            <a:endParaRPr lang="en-US" sz="220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200" b="1" spc="2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·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475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SCENARIOS &amp; CHECKS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Testing the pipeline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Heimdall is validated against controlled attack scenarios on test endpoints, checking every stage from detection through the Slack verdict.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SCENARIO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6052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SIMULATED INPUT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43800" y="2240280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551176"/>
            <a:ext cx="10637215" cy="0"/>
          </a:xfrm>
          <a:prstGeom prst="line">
            <a:avLst/>
          </a:prstGeom>
          <a:noFill/>
          <a:ln w="12700">
            <a:solidFill>
              <a:srgbClr val="2A392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871216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26974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Brute-force SSH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160520" y="26974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many failed logins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43800" y="2697480"/>
            <a:ext cx="3870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5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· T1110 · card in &lt;5s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" y="3355848"/>
            <a:ext cx="10637215" cy="0"/>
          </a:xfrm>
          <a:prstGeom prst="line">
            <a:avLst/>
          </a:prstGeom>
          <a:noFill/>
          <a:ln w="12700">
            <a:solidFill>
              <a:srgbClr val="1E282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529584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335584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Malicious IP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160520" y="335584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beacon to a flagged IP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543800" y="3355848"/>
            <a:ext cx="3870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VirusTotal hit → severity escalates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77240" y="4014216"/>
            <a:ext cx="10637215" cy="0"/>
          </a:xfrm>
          <a:prstGeom prst="line">
            <a:avLst/>
          </a:prstGeom>
          <a:noFill/>
          <a:ln w="12700">
            <a:solidFill>
              <a:srgbClr val="1E2822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18795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4440" y="401421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Malware hash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4160520" y="401421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known-bad file hash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7543800" y="4014216"/>
            <a:ext cx="3870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5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detections → HIGH + actions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77240" y="4672584"/>
            <a:ext cx="10637215" cy="0"/>
          </a:xfrm>
          <a:prstGeom prst="line">
            <a:avLst/>
          </a:prstGeom>
          <a:noFill/>
          <a:ln w="12700">
            <a:solidFill>
              <a:srgbClr val="1E2822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84632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34440" y="46725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Benign noise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4160520" y="467258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low-level events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7543800" y="4672584"/>
            <a:ext cx="3870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filtered out · no Slack card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777240" y="5532120"/>
            <a:ext cx="10637215" cy="914400"/>
          </a:xfrm>
          <a:prstGeom prst="roundRect">
            <a:avLst>
              <a:gd name="adj" fmla="val 6000"/>
            </a:avLst>
          </a:prstGeom>
          <a:solidFill>
            <a:srgbClr val="18211C"/>
          </a:solidFill>
          <a:ln w="12700">
            <a:solidFill>
              <a:srgbClr val="2A39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0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1097280" y="5715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VALIDATE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97280" y="5971032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 JSON every time  ·  </a:t>
            </a:r>
            <a:pPr indent="0" marL="0">
              <a:buNone/>
            </a:pPr>
            <a:r>
              <a:rPr lang="en-US" sz="115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 MITRE mapping  ·  </a:t>
            </a:r>
            <a:pPr indent="0" marL="0">
              <a:buNone/>
            </a:pPr>
            <a:r>
              <a:rPr lang="en-US" sz="1150" dirty="0">
                <a:solidFill>
                  <a:srgbClr val="E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 escalation  ·  </a:t>
            </a:r>
            <a:pPr indent="0" marL="0">
              <a:buNone/>
            </a:pPr>
            <a:r>
              <a:rPr lang="en-US" sz="1150" b="1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 latency &lt; 5s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200" b="1" spc="2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STACK ·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475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· SELF-HOSTED · MODULAR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from open, swappable parts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204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5508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39696"/>
            <a:ext cx="10637215" cy="0"/>
          </a:xfrm>
          <a:prstGeom prst="line">
            <a:avLst/>
          </a:prstGeom>
          <a:noFill/>
          <a:ln w="12700">
            <a:solidFill>
              <a:srgbClr val="2A392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8658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Wazuh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52044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355080" y="2286000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SIEM &amp; endpoint monitoring.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" y="2834640"/>
            <a:ext cx="10637215" cy="0"/>
          </a:xfrm>
          <a:prstGeom prst="line">
            <a:avLst/>
          </a:prstGeom>
          <a:noFill/>
          <a:ln w="12700">
            <a:solidFill>
              <a:srgbClr val="1E2822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3522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n8n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3520440" y="2834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55080" y="2834640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workflow automation &amp; routing.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77240" y="3383280"/>
            <a:ext cx="10637215" cy="0"/>
          </a:xfrm>
          <a:prstGeom prst="line">
            <a:avLst/>
          </a:prstGeom>
          <a:noFill/>
          <a:ln w="12700">
            <a:solidFill>
              <a:srgbClr val="1E2822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8386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VirusTotal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352044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ENRICHMENT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355080" y="3383280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 — IP &amp; file-hash reputation (v3).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77240" y="3931920"/>
            <a:ext cx="10637215" cy="0"/>
          </a:xfrm>
          <a:prstGeom prst="line">
            <a:avLst/>
          </a:prstGeom>
          <a:noFill/>
          <a:ln w="12700">
            <a:solidFill>
              <a:srgbClr val="1E2822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3250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DeepSeek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3520440" y="3931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355080" y="3931920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analyst — summary, MITRE, dynamic severity.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777240" y="4480560"/>
            <a:ext cx="10637215" cy="0"/>
          </a:xfrm>
          <a:prstGeom prst="line">
            <a:avLst/>
          </a:prstGeom>
          <a:noFill/>
          <a:ln w="12700">
            <a:solidFill>
              <a:srgbClr val="1E2822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581144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25880" y="4480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Slack</a:t>
            </a:r>
            <a:endParaRPr lang="en-US" sz="1900" dirty="0"/>
          </a:p>
        </p:txBody>
      </p:sp>
      <p:sp>
        <p:nvSpPr>
          <p:cNvPr id="31" name="Text 24"/>
          <p:cNvSpPr/>
          <p:nvPr/>
        </p:nvSpPr>
        <p:spPr>
          <a:xfrm>
            <a:off x="3520440" y="4480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355080" y="4480560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Kit alert cards for human review.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777240" y="5257800"/>
            <a:ext cx="10637215" cy="914400"/>
          </a:xfrm>
          <a:prstGeom prst="roundRect">
            <a:avLst>
              <a:gd name="adj" fmla="val 6000"/>
            </a:avLst>
          </a:prstGeom>
          <a:solidFill>
            <a:srgbClr val="18211C"/>
          </a:solidFill>
          <a:ln w="12700">
            <a:solidFill>
              <a:srgbClr val="A6E635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0000"/>
              </a:srgbClr>
            </a:outerShdw>
          </a:effectLst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477256"/>
            <a:ext cx="475488" cy="4754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828800" y="5257800"/>
            <a:ext cx="9265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E9F0E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raw anomaly to human-ready verdict — automatically.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3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Heimdall hands the triage grind to AI and gives analysts back their focus.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Heimdall — System Dossier</dc:title>
  <dc:subject>PptxGenJS Presentation</dc:subject>
  <dc:creator>Project Heimdall</dc:creator>
  <cp:lastModifiedBy>Project Heimdall</cp:lastModifiedBy>
  <cp:revision>1</cp:revision>
  <dcterms:created xsi:type="dcterms:W3CDTF">2026-07-09T23:13:01Z</dcterms:created>
  <dcterms:modified xsi:type="dcterms:W3CDTF">2026-07-09T23:13:01Z</dcterms:modified>
</cp:coreProperties>
</file>